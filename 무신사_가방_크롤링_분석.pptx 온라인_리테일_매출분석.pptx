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3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627"/>
          </a:solidFill>
          <a:ln>
            <a:solidFill>
              <a:srgbClr val="1E2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3017520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Noto Sans CJK KR"/>
              </a:rPr>
              <a:t>무신사 남성 가방
랭킹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51760"/>
            <a:ext cx="31089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 dirty="0" err="1">
                <a:solidFill>
                  <a:srgbClr val="E6E1D8"/>
                </a:solidFill>
                <a:latin typeface="Noto Sans CJK KR"/>
              </a:rPr>
              <a:t>최근</a:t>
            </a:r>
            <a:r>
              <a:rPr sz="1450" b="0" i="0" dirty="0">
                <a:solidFill>
                  <a:srgbClr val="E6E1D8"/>
                </a:solidFill>
                <a:latin typeface="Noto Sans CJK KR"/>
              </a:rPr>
              <a:t> 1개월 </a:t>
            </a:r>
            <a:r>
              <a:rPr sz="1450" b="0" i="0" dirty="0" err="1">
                <a:solidFill>
                  <a:srgbClr val="E6E1D8"/>
                </a:solidFill>
                <a:latin typeface="Noto Sans CJK KR"/>
              </a:rPr>
              <a:t>랭킹</a:t>
            </a:r>
            <a:r>
              <a:rPr sz="1450" b="0" i="0" dirty="0">
                <a:solidFill>
                  <a:srgbClr val="E6E1D8"/>
                </a:solidFill>
                <a:latin typeface="Noto Sans CJK KR"/>
              </a:rPr>
              <a:t> </a:t>
            </a:r>
            <a:r>
              <a:rPr sz="1450" b="0" i="0" dirty="0" err="1">
                <a:solidFill>
                  <a:srgbClr val="E6E1D8"/>
                </a:solidFill>
                <a:latin typeface="Noto Sans CJK KR"/>
              </a:rPr>
              <a:t>기준으로</a:t>
            </a:r>
            <a:r>
              <a:rPr sz="1450" b="0" i="0" dirty="0">
                <a:solidFill>
                  <a:srgbClr val="E6E1D8"/>
                </a:solidFill>
                <a:latin typeface="Noto Sans CJK KR"/>
              </a:rPr>
              <a:t>
20–24세와 25–29세 </a:t>
            </a:r>
            <a:r>
              <a:rPr sz="1450" b="0" i="0" dirty="0" err="1">
                <a:solidFill>
                  <a:srgbClr val="E6E1D8"/>
                </a:solidFill>
                <a:latin typeface="Noto Sans CJK KR"/>
              </a:rPr>
              <a:t>소비</a:t>
            </a:r>
            <a:r>
              <a:rPr sz="1450" b="0" i="0" dirty="0">
                <a:solidFill>
                  <a:srgbClr val="E6E1D8"/>
                </a:solidFill>
                <a:latin typeface="Noto Sans CJK KR"/>
              </a:rPr>
              <a:t> </a:t>
            </a:r>
            <a:r>
              <a:rPr sz="1450" b="0" i="0" dirty="0" err="1">
                <a:solidFill>
                  <a:srgbClr val="E6E1D8"/>
                </a:solidFill>
                <a:latin typeface="Noto Sans CJK KR"/>
              </a:rPr>
              <a:t>포지션</a:t>
            </a:r>
            <a:r>
              <a:rPr sz="1450" b="0" i="0" dirty="0">
                <a:solidFill>
                  <a:srgbClr val="E6E1D8"/>
                </a:solidFill>
                <a:latin typeface="Noto Sans CJK KR"/>
              </a:rPr>
              <a:t> </a:t>
            </a:r>
            <a:r>
              <a:rPr sz="1450" b="0" i="0" dirty="0" err="1">
                <a:solidFill>
                  <a:srgbClr val="E6E1D8"/>
                </a:solidFill>
                <a:latin typeface="Noto Sans CJK KR"/>
              </a:rPr>
              <a:t>비교</a:t>
            </a:r>
            <a:endParaRPr sz="1450" b="0" i="0" dirty="0">
              <a:solidFill>
                <a:srgbClr val="E6E1D8"/>
              </a:solidFill>
              <a:latin typeface="Noto Sans CJK K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3794760"/>
            <a:ext cx="2468880" cy="18288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3017520" cy="33919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데이터 </a:t>
            </a:r>
            <a:r>
              <a:rPr lang="ko-KR" altLang="en-US" sz="1200" dirty="0" err="1">
                <a:solidFill>
                  <a:schemeClr val="bg1"/>
                </a:solidFill>
              </a:rPr>
              <a:t>크롤링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· </a:t>
            </a:r>
            <a:r>
              <a:rPr lang="ko-KR" altLang="en-US" sz="1200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</a:rPr>
              <a:t>시각화 </a:t>
            </a:r>
            <a:r>
              <a:rPr lang="en-US" altLang="ko-KR" sz="1200" dirty="0">
                <a:solidFill>
                  <a:schemeClr val="bg1"/>
                </a:solidFill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</a:rPr>
              <a:t>인사이트</a:t>
            </a:r>
            <a:endParaRPr sz="1200" b="0" i="0" dirty="0">
              <a:solidFill>
                <a:schemeClr val="bg1"/>
              </a:solidFill>
              <a:latin typeface="Noto Sans CJK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5212080"/>
            <a:ext cx="6400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Noto Sans CJK KR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04688"/>
            <a:ext cx="777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FC8BE"/>
                </a:solidFill>
                <a:latin typeface="Noto Sans CJK KR"/>
              </a:rPr>
              <a:t>상품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7" y="5212080"/>
            <a:ext cx="777239" cy="4371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1" i="0" dirty="0">
                <a:solidFill>
                  <a:srgbClr val="FFFFFF"/>
                </a:solidFill>
                <a:latin typeface="Noto Sans CJK KR"/>
              </a:rPr>
              <a:t>2</a:t>
            </a:r>
            <a:r>
              <a:rPr lang="en-US" b="1" i="0" dirty="0">
                <a:solidFill>
                  <a:srgbClr val="FFFFFF"/>
                </a:solidFill>
                <a:latin typeface="Noto Sans CJK KR"/>
              </a:rPr>
              <a:t>0~29</a:t>
            </a:r>
            <a:endParaRPr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9928" y="5504688"/>
            <a:ext cx="777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FC8BE"/>
                </a:solidFill>
                <a:latin typeface="Noto Sans CJK KR"/>
              </a:rPr>
              <a:t>연령대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7" y="5212080"/>
            <a:ext cx="6400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FFFFFF"/>
                </a:solidFill>
                <a:latin typeface="Noto Sans CJK KR"/>
              </a:rPr>
              <a:t>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7" y="5504688"/>
            <a:ext cx="777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FC8BE"/>
                </a:solidFill>
                <a:latin typeface="Noto Sans CJK KR"/>
              </a:rPr>
              <a:t>기간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66928"/>
            <a:ext cx="32735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ean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685800"/>
            <a:ext cx="3054096" cy="19019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617720" y="2971800"/>
            <a:ext cx="327355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rice_band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3090672"/>
            <a:ext cx="3108960" cy="207568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38159" y="1170432"/>
            <a:ext cx="3720905" cy="41330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catter_price_revie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298448"/>
            <a:ext cx="3611176" cy="38953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5468112"/>
            <a:ext cx="32461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80" b="0" i="0">
                <a:solidFill>
                  <a:srgbClr val="6A6F76"/>
                </a:solidFill>
                <a:latin typeface="Noto Sans CJK KR"/>
              </a:rPr>
              <a:t>20–24는 중저가 밀집, 25–29는 중고가까지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6766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02225"/>
                </a:solidFill>
                <a:latin typeface="Noto Sans CJK KR"/>
              </a:rPr>
              <a:t>프로젝트 셋업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41248"/>
            <a:ext cx="914400" cy="36576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크롤링한 무신사 가방 랭킹 데이터를 연령대 기준으로 비교해 가격 포지션과 상품 구성 차이를 파악했다.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74320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A6F76"/>
                </a:solidFill>
                <a:latin typeface="Noto Sans CJK KR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794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1188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02225"/>
                </a:solidFill>
                <a:latin typeface="Noto Sans CJK KR"/>
              </a:rPr>
              <a:t>분석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2918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0" b="0" i="0">
                <a:solidFill>
                  <a:srgbClr val="202225"/>
                </a:solidFill>
                <a:latin typeface="Noto Sans CJK KR"/>
              </a:rPr>
              <a:t>• 20–24세와 25–29세의 가격 선호 차이 파악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22576"/>
            <a:ext cx="32918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0" b="0" i="0">
                <a:solidFill>
                  <a:srgbClr val="202225"/>
                </a:solidFill>
                <a:latin typeface="Noto Sans CJK KR"/>
              </a:rPr>
              <a:t>• 리뷰가 붙는 상품의 가격 구간과 관심도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2918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70" b="0" i="0">
                <a:solidFill>
                  <a:srgbClr val="202225"/>
                </a:solidFill>
                <a:latin typeface="Noto Sans CJK KR"/>
              </a:rPr>
              <a:t>• 카테고리보다 가격대가 더 강한 세그먼트인지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93008"/>
            <a:ext cx="1188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02225"/>
                </a:solidFill>
                <a:latin typeface="Noto Sans CJK KR"/>
              </a:rPr>
              <a:t>분석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40480"/>
            <a:ext cx="3154680" cy="384048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904487"/>
            <a:ext cx="28346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0" i="0">
                <a:solidFill>
                  <a:srgbClr val="202225"/>
                </a:solidFill>
                <a:latin typeface="Noto Sans CJK KR"/>
              </a:rPr>
              <a:t>평균 가격과 중앙값은 얼마나 다른가?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89120"/>
            <a:ext cx="3154680" cy="384048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453127"/>
            <a:ext cx="3035808" cy="3265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0" i="0" dirty="0" err="1">
                <a:solidFill>
                  <a:srgbClr val="202225"/>
                </a:solidFill>
                <a:latin typeface="Noto Sans CJK KR"/>
              </a:rPr>
              <a:t>저가</a:t>
            </a:r>
            <a:r>
              <a:rPr sz="1120" b="0" i="0" dirty="0">
                <a:solidFill>
                  <a:srgbClr val="202225"/>
                </a:solidFill>
                <a:latin typeface="Noto Sans CJK KR"/>
              </a:rPr>
              <a:t>/</a:t>
            </a:r>
            <a:r>
              <a:rPr sz="1120" b="0" i="0" dirty="0" err="1">
                <a:solidFill>
                  <a:srgbClr val="202225"/>
                </a:solidFill>
                <a:latin typeface="Noto Sans CJK KR"/>
              </a:rPr>
              <a:t>중가</a:t>
            </a:r>
            <a:r>
              <a:rPr sz="1120" b="0" i="0" dirty="0">
                <a:solidFill>
                  <a:srgbClr val="202225"/>
                </a:solidFill>
                <a:latin typeface="Noto Sans CJK KR"/>
              </a:rPr>
              <a:t>/</a:t>
            </a:r>
            <a:r>
              <a:rPr sz="1120" b="0" i="0" dirty="0" err="1">
                <a:solidFill>
                  <a:srgbClr val="202225"/>
                </a:solidFill>
                <a:latin typeface="Noto Sans CJK KR"/>
              </a:rPr>
              <a:t>고가</a:t>
            </a:r>
            <a:r>
              <a:rPr sz="1120" b="0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120" b="0" i="0" dirty="0" err="1">
                <a:solidFill>
                  <a:srgbClr val="202225"/>
                </a:solidFill>
                <a:latin typeface="Noto Sans CJK KR"/>
              </a:rPr>
              <a:t>구성이</a:t>
            </a:r>
            <a:r>
              <a:rPr sz="1120" b="0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120" b="0" i="0" dirty="0" err="1">
                <a:solidFill>
                  <a:srgbClr val="202225"/>
                </a:solidFill>
                <a:latin typeface="Noto Sans CJK KR"/>
              </a:rPr>
              <a:t>어떻게</a:t>
            </a:r>
            <a:r>
              <a:rPr sz="1120" b="0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120" b="0" i="0" dirty="0" err="1">
                <a:solidFill>
                  <a:srgbClr val="202225"/>
                </a:solidFill>
                <a:latin typeface="Noto Sans CJK KR"/>
              </a:rPr>
              <a:t>달라지는가</a:t>
            </a:r>
            <a:r>
              <a:rPr sz="1120" b="0" i="0" dirty="0">
                <a:solidFill>
                  <a:srgbClr val="202225"/>
                </a:solidFill>
                <a:latin typeface="Noto Sans CJK KR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937760"/>
            <a:ext cx="3154680" cy="384048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001768"/>
            <a:ext cx="28346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0" i="0">
                <a:solidFill>
                  <a:srgbClr val="202225"/>
                </a:solidFill>
                <a:latin typeface="Noto Sans CJK KR"/>
              </a:rPr>
              <a:t>리뷰가 집중되는 가격 구간은 어디인가?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50992"/>
            <a:ext cx="32461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6A6F76"/>
                </a:solidFill>
                <a:latin typeface="Noto Sans CJK KR"/>
              </a:rPr>
              <a:t>※ 크롤링 데이터 특성상 일부 결측치·오차 가능성을 전제했다.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325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4" y="1481328"/>
            <a:ext cx="15544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F6B6A"/>
                </a:solidFill>
                <a:latin typeface="Noto Sans CJK KR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1184" y="1828800"/>
            <a:ext cx="1645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1" i="0">
                <a:solidFill>
                  <a:srgbClr val="202225"/>
                </a:solidFill>
                <a:latin typeface="Noto Sans CJK KR"/>
              </a:rPr>
              <a:t>총 수집 상품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2029968"/>
            <a:ext cx="16916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6A6F76"/>
                </a:solidFill>
                <a:latin typeface="Noto Sans CJK KR"/>
              </a:rPr>
              <a:t>연령대별 랭킹 50개씩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1325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9752" y="1481328"/>
            <a:ext cx="1554480" cy="51757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 dirty="0">
                <a:solidFill>
                  <a:srgbClr val="2F6B6A"/>
                </a:solidFill>
                <a:latin typeface="Noto Sans CJK KR"/>
              </a:rPr>
              <a:t>2</a:t>
            </a:r>
            <a:r>
              <a:rPr lang="en-US" sz="2300" b="1" i="0" dirty="0">
                <a:solidFill>
                  <a:srgbClr val="2F6B6A"/>
                </a:solidFill>
                <a:latin typeface="Noto Sans CJK KR"/>
              </a:rPr>
              <a:t>0~29</a:t>
            </a:r>
            <a:r>
              <a:rPr lang="ko-KR" altLang="en-US" sz="2300" b="1" i="0" dirty="0">
                <a:solidFill>
                  <a:srgbClr val="2F6B6A"/>
                </a:solidFill>
                <a:latin typeface="Noto Sans CJK KR"/>
              </a:rPr>
              <a:t>세</a:t>
            </a:r>
            <a:endParaRPr sz="2300" b="1" i="0" dirty="0">
              <a:solidFill>
                <a:srgbClr val="2F6B6A"/>
              </a:solidFill>
              <a:latin typeface="Noto Sans CJK K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59752" y="1828800"/>
            <a:ext cx="1645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1" i="0">
                <a:solidFill>
                  <a:srgbClr val="202225"/>
                </a:solidFill>
                <a:latin typeface="Noto Sans CJK KR"/>
              </a:rPr>
              <a:t>비교 연령대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2029968"/>
            <a:ext cx="16916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6A6F76"/>
                </a:solidFill>
                <a:latin typeface="Noto Sans CJK KR"/>
              </a:rPr>
              <a:t>20–24 / 25–29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1325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1481328"/>
            <a:ext cx="1554480" cy="51469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300" b="1" i="0" dirty="0">
                <a:solidFill>
                  <a:srgbClr val="2F6B6A"/>
                </a:solidFill>
                <a:latin typeface="Noto Sans CJK KR"/>
              </a:rPr>
              <a:t>1</a:t>
            </a:r>
            <a:r>
              <a:rPr sz="2300" b="1" i="0" dirty="0">
                <a:solidFill>
                  <a:srgbClr val="2F6B6A"/>
                </a:solidFill>
                <a:latin typeface="Noto Sans CJK KR"/>
              </a:rPr>
              <a:t>개월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828800"/>
            <a:ext cx="1645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1" i="0">
                <a:solidFill>
                  <a:srgbClr val="202225"/>
                </a:solidFill>
                <a:latin typeface="Noto Sans CJK KR"/>
              </a:rPr>
              <a:t>랭킹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029968"/>
            <a:ext cx="16916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6A6F76"/>
                </a:solidFill>
                <a:latin typeface="Noto Sans CJK KR"/>
              </a:rPr>
              <a:t>최근 한 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697480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83480" y="2962656"/>
            <a:ext cx="1234440" cy="585216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56632" y="3008376"/>
            <a:ext cx="3200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38F5A"/>
                </a:solidFill>
                <a:latin typeface="Noto Sans CJK KR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163824"/>
            <a:ext cx="1005840" cy="32329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dirty="0"/>
              <a:t>데이터 수집</a:t>
            </a:r>
            <a:endParaRPr sz="1080" b="1" i="0" dirty="0">
              <a:solidFill>
                <a:srgbClr val="202225"/>
              </a:solidFill>
              <a:latin typeface="Noto Sans CJK K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27064" y="3154680"/>
            <a:ext cx="1828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C38F5A"/>
                </a:solidFill>
                <a:latin typeface="Noto Sans CJK KR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9672" y="2962656"/>
            <a:ext cx="1234440" cy="585216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3008376"/>
            <a:ext cx="3200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38F5A"/>
                </a:solidFill>
                <a:latin typeface="Noto Sans CJK KR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2824" y="3163824"/>
            <a:ext cx="1133856" cy="32329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dirty="0"/>
              <a:t>데이터 </a:t>
            </a:r>
            <a:r>
              <a:rPr lang="ko-KR" altLang="en-US" sz="1100" dirty="0" err="1"/>
              <a:t>전처리</a:t>
            </a:r>
            <a:endParaRPr sz="1080" b="1" i="0" dirty="0">
              <a:solidFill>
                <a:srgbClr val="202225"/>
              </a:solidFill>
              <a:latin typeface="Noto Sans CJK K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3256" y="3154680"/>
            <a:ext cx="1828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C38F5A"/>
                </a:solidFill>
                <a:latin typeface="Noto Sans CJK KR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5864" y="2962656"/>
            <a:ext cx="1234440" cy="585216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29016" y="3008376"/>
            <a:ext cx="3200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38F5A"/>
                </a:solidFill>
                <a:latin typeface="Noto Sans CJK KR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9016" y="3163824"/>
            <a:ext cx="1170432" cy="32329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dirty="0"/>
              <a:t>세그먼트 분류</a:t>
            </a:r>
            <a:endParaRPr sz="1080" b="1" i="0" dirty="0">
              <a:solidFill>
                <a:srgbClr val="202225"/>
              </a:solidFill>
              <a:latin typeface="Noto Sans CJK K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99448" y="3154680"/>
            <a:ext cx="1828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C38F5A"/>
                </a:solidFill>
                <a:latin typeface="Noto Sans CJK KR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92056" y="2962656"/>
            <a:ext cx="1234440" cy="585216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65208" y="3008376"/>
            <a:ext cx="3200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38F5A"/>
                </a:solidFill>
                <a:latin typeface="Noto Sans CJK KR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5208" y="3163824"/>
            <a:ext cx="1005840" cy="32329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dirty="0"/>
              <a:t>시각화</a:t>
            </a:r>
            <a:endParaRPr sz="1080" b="1" i="0" dirty="0">
              <a:solidFill>
                <a:srgbClr val="202225"/>
              </a:solidFill>
              <a:latin typeface="Noto Sans CJK KR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754880" y="4069080"/>
            <a:ext cx="6400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4279392"/>
            <a:ext cx="1645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02225"/>
                </a:solidFill>
                <a:latin typeface="Noto Sans CJK KR"/>
              </a:rPr>
              <a:t>수집 필드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3480" y="4626864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56632" y="4681727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상품명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9440" y="4626864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22592" y="4681727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브랜드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5400" y="4626864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88552" y="4681727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가격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83480" y="5157216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56632" y="5212079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할인율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40" y="5157216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22592" y="5212079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리뷰수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15400" y="5157216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88552" y="5212079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평점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83480" y="5687568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56632" y="5742431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카테고리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0" y="5687568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22592" y="5742431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링크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15400" y="5687568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88552" y="5742431"/>
            <a:ext cx="137160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202225"/>
                </a:solidFill>
                <a:latin typeface="Noto Sans CJK KR"/>
              </a:rPr>
              <a:t>연령대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01768" y="6364223"/>
            <a:ext cx="56692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핵심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세그먼트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변수는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연령대와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가격대이며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,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분석의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초점은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가격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포지션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이동에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 </a:t>
            </a:r>
            <a:r>
              <a:rPr sz="1060" b="0" i="0" dirty="0" err="1">
                <a:solidFill>
                  <a:srgbClr val="6A6F76"/>
                </a:solidFill>
                <a:latin typeface="Noto Sans CJK KR"/>
              </a:rPr>
              <a:t>두었다</a:t>
            </a:r>
            <a:r>
              <a:rPr sz="1060" b="0" i="0" dirty="0">
                <a:solidFill>
                  <a:srgbClr val="6A6F76"/>
                </a:solidFill>
                <a:latin typeface="Noto Sans CJK K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6766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02225"/>
                </a:solidFill>
                <a:latin typeface="Noto Sans CJK KR"/>
              </a:rPr>
              <a:t>가격 수준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41248"/>
            <a:ext cx="914400" cy="36576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25–29세 코호트가 평균·중앙값 모두 더 높은 가격대에 위치했다.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74320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A6F76"/>
                </a:solidFill>
                <a:latin typeface="Noto Sans CJK KR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65379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an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72768"/>
            <a:ext cx="6080760" cy="44439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298448"/>
            <a:ext cx="40690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2672" y="1490472"/>
            <a:ext cx="1645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A6F76"/>
                </a:solidFill>
                <a:latin typeface="Noto Sans CJK KR"/>
              </a:rPr>
              <a:t>평균 가격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755648"/>
            <a:ext cx="3813048" cy="41902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 dirty="0">
                <a:solidFill>
                  <a:srgbClr val="202225"/>
                </a:solidFill>
                <a:latin typeface="Noto Sans CJK KR"/>
              </a:rPr>
              <a:t>20–24  65,068원  </a:t>
            </a:r>
            <a:r>
              <a:rPr lang="en-US" sz="17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700" b="1" i="0" dirty="0">
                <a:solidFill>
                  <a:srgbClr val="202225"/>
                </a:solidFill>
                <a:latin typeface="Noto Sans CJK KR"/>
              </a:rPr>
              <a:t>→  </a:t>
            </a:r>
            <a:r>
              <a:rPr lang="en-US" sz="17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700" b="1" i="0" dirty="0">
                <a:solidFill>
                  <a:srgbClr val="202225"/>
                </a:solidFill>
                <a:latin typeface="Noto Sans CJK KR"/>
              </a:rPr>
              <a:t>25–29  </a:t>
            </a:r>
            <a:r>
              <a:rPr lang="en-US" sz="17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700" b="1" i="0" dirty="0">
                <a:solidFill>
                  <a:srgbClr val="202225"/>
                </a:solidFill>
                <a:latin typeface="Noto Sans CJK KR"/>
              </a:rPr>
              <a:t>109,082원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697480"/>
            <a:ext cx="40690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2" y="2889504"/>
            <a:ext cx="1645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A6F76"/>
                </a:solidFill>
                <a:latin typeface="Noto Sans CJK KR"/>
              </a:rPr>
              <a:t>중앙값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3154680"/>
            <a:ext cx="3813048" cy="41902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 dirty="0">
                <a:solidFill>
                  <a:srgbClr val="202225"/>
                </a:solidFill>
                <a:latin typeface="Noto Sans CJK KR"/>
              </a:rPr>
              <a:t>20–24  63,500원  </a:t>
            </a:r>
            <a:r>
              <a:rPr lang="en-US" sz="17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700" b="1" i="0" dirty="0">
                <a:solidFill>
                  <a:srgbClr val="202225"/>
                </a:solidFill>
                <a:latin typeface="Noto Sans CJK KR"/>
              </a:rPr>
              <a:t>→ </a:t>
            </a:r>
            <a:r>
              <a:rPr lang="en-US" sz="17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700" b="1" i="0" dirty="0">
                <a:solidFill>
                  <a:srgbClr val="202225"/>
                </a:solidFill>
                <a:latin typeface="Noto Sans CJK KR"/>
              </a:rPr>
              <a:t> 25–29 </a:t>
            </a:r>
            <a:r>
              <a:rPr lang="en-US" sz="17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700" b="1" i="0" dirty="0">
                <a:solidFill>
                  <a:srgbClr val="202225"/>
                </a:solidFill>
                <a:latin typeface="Noto Sans CJK KR"/>
              </a:rPr>
              <a:t> 84,500원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096512"/>
            <a:ext cx="4069080" cy="2139696"/>
          </a:xfrm>
          <a:prstGeom prst="roundRect">
            <a:avLst>
              <a:gd name="adj" fmla="val 8000"/>
            </a:avLst>
          </a:prstGeom>
          <a:solidFill>
            <a:srgbClr val="1E2627"/>
          </a:solidFill>
          <a:ln>
            <a:solidFill>
              <a:srgbClr val="1E2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4325112"/>
            <a:ext cx="1645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4C7A8"/>
                </a:solidFill>
                <a:latin typeface="Noto Sans CJK KR"/>
              </a:rPr>
              <a:t>해석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45152"/>
            <a:ext cx="3474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 i="0">
                <a:solidFill>
                  <a:srgbClr val="FFFFFF"/>
                </a:solidFill>
                <a:latin typeface="Noto Sans CJK KR"/>
              </a:rPr>
              <a:t>• 25–29 평균 가격은 20–24 대비 약 67.6% 높다.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5056632"/>
            <a:ext cx="3474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 i="0">
                <a:solidFill>
                  <a:srgbClr val="FFFFFF"/>
                </a:solidFill>
                <a:latin typeface="Noto Sans CJK KR"/>
              </a:rPr>
              <a:t>• 중앙값도 2만원 이상 높아 일부 고가품 영향이 아닌 전체 분포 이동으로 해석 가능.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5468112"/>
            <a:ext cx="3474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 i="0">
                <a:solidFill>
                  <a:srgbClr val="FFFFFF"/>
                </a:solidFill>
                <a:latin typeface="Noto Sans CJK KR"/>
              </a:rPr>
              <a:t>• 연령이 올라갈수록 실구매 허용 가격대가 넓어지는 신호.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6766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02225"/>
                </a:solidFill>
                <a:latin typeface="Noto Sans CJK KR"/>
              </a:rPr>
              <a:t>가격대 구성 변화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41248"/>
            <a:ext cx="914400" cy="36576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20–24는 7만원 미만 비중이 높고, 25–29는 7만원 이상 구간이 과반을 차지한다.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74320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A6F76"/>
                </a:solidFill>
                <a:latin typeface="Noto Sans CJK KR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64922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ice_band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27632"/>
            <a:ext cx="603504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4173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1" y="1563624"/>
            <a:ext cx="9144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1" i="0">
                <a:solidFill>
                  <a:srgbClr val="2F6B6A"/>
                </a:solidFill>
                <a:latin typeface="Noto Sans CJK KR"/>
              </a:rPr>
              <a:t>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819656"/>
            <a:ext cx="2926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02225"/>
                </a:solidFill>
                <a:latin typeface="Noto Sans CJK KR"/>
              </a:rPr>
              <a:t>7만원 미만 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167128"/>
            <a:ext cx="3383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6A6F76"/>
                </a:solidFill>
                <a:latin typeface="Noto Sans CJK KR"/>
              </a:rPr>
              <a:t>가성비/진입가 중심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88036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3026664"/>
            <a:ext cx="9144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1" i="0">
                <a:solidFill>
                  <a:srgbClr val="C38F5A"/>
                </a:solidFill>
                <a:latin typeface="Noto Sans CJK KR"/>
              </a:rPr>
              <a:t>25–29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3282696"/>
            <a:ext cx="2926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02225"/>
                </a:solidFill>
                <a:latin typeface="Noto Sans CJK KR"/>
              </a:rPr>
              <a:t>7만원 이상 56%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630168"/>
            <a:ext cx="3383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6A6F76"/>
                </a:solidFill>
                <a:latin typeface="Noto Sans CJK KR"/>
              </a:rPr>
              <a:t>중가 이상 가격대 수용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4340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1" y="4489704"/>
            <a:ext cx="9144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1" i="0">
                <a:solidFill>
                  <a:srgbClr val="7A5A40"/>
                </a:solidFill>
                <a:latin typeface="Noto Sans CJK KR"/>
              </a:rPr>
              <a:t>고가 구간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745736"/>
            <a:ext cx="2926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02225"/>
                </a:solidFill>
                <a:latin typeface="Noto Sans CJK KR"/>
              </a:rPr>
              <a:t>15만원 초과 +16%p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5093208"/>
            <a:ext cx="3383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6A6F76"/>
                </a:solidFill>
                <a:latin typeface="Noto Sans CJK KR"/>
              </a:rPr>
              <a:t>25–29에서 프리미엄 비중 확대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5715000"/>
            <a:ext cx="4160520" cy="521207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8" y="5742432"/>
            <a:ext cx="37033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결론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: </a:t>
            </a: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세그먼트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차이는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카테고리보다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가격대에서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먼저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070" b="1" i="0" dirty="0" err="1">
                <a:solidFill>
                  <a:srgbClr val="202225"/>
                </a:solidFill>
                <a:latin typeface="Noto Sans CJK KR"/>
              </a:rPr>
              <a:t>드러난다</a:t>
            </a:r>
            <a:r>
              <a:rPr sz="1070" b="1" i="0" dirty="0">
                <a:solidFill>
                  <a:srgbClr val="202225"/>
                </a:solidFill>
                <a:latin typeface="Noto Sans CJK K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6766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02225"/>
                </a:solidFill>
                <a:latin typeface="Noto Sans CJK KR"/>
              </a:rPr>
              <a:t>가격과 리뷰수의 관계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41248"/>
            <a:ext cx="914400" cy="36576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두 연령대 모두 단순히 가격이 높다고 리뷰가 늘지는 않지만, 25–29는 중고가까지 관심 분포가 넓다.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74320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A6F76"/>
                </a:solidFill>
                <a:latin typeface="Noto Sans CJK KR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64922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atter_price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6089904" cy="44622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298448"/>
            <a:ext cx="420624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16368" y="1490472"/>
            <a:ext cx="2103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02225"/>
                </a:solidFill>
                <a:latin typeface="Noto Sans CJK KR"/>
              </a:rPr>
              <a:t>리뷰 상위 상품 TOP 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79" y="1810512"/>
          <a:ext cx="36576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225"/>
                          </a:solidFill>
                          <a:latin typeface="Noto Sans CJK KR"/>
                        </a:rPr>
                        <a:t>브랜드</a:t>
                      </a:r>
                    </a:p>
                  </a:txBody>
                  <a:tcPr marL="45720" marR="45720" marT="18288" marB="18288">
                    <a:solidFill>
                      <a:srgbClr val="F2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225"/>
                          </a:solidFill>
                          <a:latin typeface="Noto Sans CJK KR"/>
                        </a:rPr>
                        <a:t>상품명</a:t>
                      </a:r>
                    </a:p>
                  </a:txBody>
                  <a:tcPr marL="45720" marR="45720" marT="18288" marB="18288">
                    <a:solidFill>
                      <a:srgbClr val="F2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225"/>
                          </a:solidFill>
                          <a:latin typeface="Noto Sans CJK KR"/>
                        </a:rPr>
                        <a:t>가격</a:t>
                      </a:r>
                    </a:p>
                  </a:txBody>
                  <a:tcPr marL="45720" marR="45720" marT="18288" marB="18288">
                    <a:solidFill>
                      <a:srgbClr val="F2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225"/>
                          </a:solidFill>
                          <a:latin typeface="Noto Sans CJK KR"/>
                        </a:rPr>
                        <a:t>리뷰</a:t>
                      </a:r>
                    </a:p>
                  </a:txBody>
                  <a:tcPr marL="45720" marR="45720" marT="18288" marB="18288">
                    <a:solidFill>
                      <a:srgbClr val="F2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노스페이스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02225"/>
                          </a:solidFill>
                          <a:latin typeface="Noto Sans CJK KR"/>
                        </a:rPr>
                        <a:t>노스페이스(THE NORTH FACE)…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142k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202225"/>
                          </a:solidFill>
                          <a:latin typeface="Noto Sans CJK KR"/>
                        </a:rPr>
                        <a:t>262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애쓰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02225"/>
                          </a:solidFill>
                          <a:latin typeface="Noto Sans CJK KR"/>
                        </a:rPr>
                        <a:t>애쓰(AETH) HARD PIECE M…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10k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202225"/>
                          </a:solidFill>
                          <a:latin typeface="Noto Sans CJK KR"/>
                        </a:rPr>
                        <a:t>230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하 아카이브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02225"/>
                          </a:solidFill>
                          <a:latin typeface="Noto Sans CJK KR"/>
                        </a:rPr>
                        <a:t>하 아카이브(HAHARCHIVE) [W…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114k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202225"/>
                          </a:solidFill>
                          <a:latin typeface="Noto Sans CJK KR"/>
                        </a:rPr>
                        <a:t>207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헬리녹스 웨어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02225"/>
                          </a:solidFill>
                          <a:latin typeface="Noto Sans CJK KR"/>
                        </a:rPr>
                        <a:t>헬리녹스 웨어(HELINOX WEAR)…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76k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202225"/>
                          </a:solidFill>
                          <a:latin typeface="Noto Sans CJK KR"/>
                        </a:rPr>
                        <a:t>188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미나브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202225"/>
                          </a:solidFill>
                          <a:latin typeface="Noto Sans CJK KR"/>
                        </a:rPr>
                        <a:t>미나브(MINAV) [패션플래닛X미나브…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>
                          <a:solidFill>
                            <a:srgbClr val="202225"/>
                          </a:solidFill>
                          <a:latin typeface="Noto Sans CJK KR"/>
                        </a:rPr>
                        <a:t>69k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202225"/>
                          </a:solidFill>
                          <a:latin typeface="Noto Sans CJK KR"/>
                        </a:rPr>
                        <a:t>183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0" y="4956048"/>
            <a:ext cx="4206240" cy="1280160"/>
          </a:xfrm>
          <a:prstGeom prst="roundRect">
            <a:avLst>
              <a:gd name="adj" fmla="val 8000"/>
            </a:avLst>
          </a:prstGeom>
          <a:solidFill>
            <a:srgbClr val="1E2627"/>
          </a:solidFill>
          <a:ln>
            <a:solidFill>
              <a:srgbClr val="1E2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16368" y="5138928"/>
            <a:ext cx="36576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 i="0">
                <a:solidFill>
                  <a:srgbClr val="FFFFFF"/>
                </a:solidFill>
                <a:latin typeface="Noto Sans CJK KR"/>
              </a:rPr>
              <a:t>• 두 연령대의 가격-리뷰 상관은 매우 약함
• 그러나 20–24는 중저가 구간에 점이 몰리고, 25–29는 7~15만원대까지 분포가 넓다.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6766560" cy="51469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 dirty="0" err="1">
                <a:solidFill>
                  <a:srgbClr val="202225"/>
                </a:solidFill>
                <a:latin typeface="Noto Sans CJK KR"/>
              </a:rPr>
              <a:t>카테고리와</a:t>
            </a:r>
            <a:r>
              <a:rPr sz="23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2300" b="1" i="0" dirty="0" err="1">
                <a:solidFill>
                  <a:srgbClr val="202225"/>
                </a:solidFill>
                <a:latin typeface="Noto Sans CJK KR"/>
              </a:rPr>
              <a:t>브랜드</a:t>
            </a:r>
            <a:r>
              <a:rPr sz="2300" b="1" i="0" dirty="0">
                <a:solidFill>
                  <a:srgbClr val="202225"/>
                </a:solidFill>
                <a:latin typeface="Noto Sans CJK KR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41248"/>
            <a:ext cx="914400" cy="36576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카테고리 차이는 작고, 브랜드 쏠림에서 연령대별 취향 차이가 일부 드러난다.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74320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A6F76"/>
                </a:solidFill>
                <a:latin typeface="Noto Sans CJK KR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60350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tegor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5650992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95160" y="1298448"/>
            <a:ext cx="4526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1463039"/>
            <a:ext cx="8229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1" i="0">
                <a:solidFill>
                  <a:srgbClr val="2F6B6A"/>
                </a:solidFill>
                <a:latin typeface="Noto Sans CJK KR"/>
              </a:rPr>
              <a:t>20-24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09928"/>
            <a:ext cx="38862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10" b="0" i="0">
                <a:solidFill>
                  <a:srgbClr val="202225"/>
                </a:solidFill>
                <a:latin typeface="Noto Sans CJK KR"/>
              </a:rPr>
              <a:t>미나브 3 · 노스페이스 3 · 디앤에스알 3 · 슬로우애시드 2 · 에스에스알엘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95728"/>
            <a:ext cx="3840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가성비·캐주얼 백팩 비중이 높은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127248"/>
            <a:ext cx="45262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3291840"/>
            <a:ext cx="8229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1" i="0">
                <a:solidFill>
                  <a:srgbClr val="C38F5A"/>
                </a:solidFill>
                <a:latin typeface="Noto Sans CJK KR"/>
              </a:rPr>
              <a:t>25-29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538728"/>
            <a:ext cx="38862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10" b="0" i="0">
                <a:solidFill>
                  <a:srgbClr val="202225"/>
                </a:solidFill>
                <a:latin typeface="Noto Sans CJK KR"/>
              </a:rPr>
              <a:t>노스페이스 4 · 아크테릭스 4 · 미나브 3 · 질스튜어트 맨 액세서리 3 · 바이모스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224528"/>
            <a:ext cx="3840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노스페이스·아크테릭스 등 프리미엄 아웃도어 비중 확대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5138928"/>
            <a:ext cx="4526280" cy="1097280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5321808"/>
            <a:ext cx="3931920" cy="5852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40" b="1" i="0">
                <a:solidFill>
                  <a:srgbClr val="202225"/>
                </a:solidFill>
                <a:latin typeface="Noto Sans CJK KR"/>
              </a:rPr>
              <a:t>백팩 비중은 두 세그먼트 모두 70% 이상으로 유사했다.
즉, 연령 차이를 만드는 핵심 레버는 카테고리보다 가격 포지션이다.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6766560" cy="51469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 dirty="0" err="1">
                <a:solidFill>
                  <a:srgbClr val="202225"/>
                </a:solidFill>
                <a:latin typeface="Noto Sans CJK KR"/>
              </a:rPr>
              <a:t>액션</a:t>
            </a:r>
            <a:r>
              <a:rPr sz="23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2300" b="1" i="0" dirty="0" err="1">
                <a:solidFill>
                  <a:srgbClr val="202225"/>
                </a:solidFill>
                <a:latin typeface="Noto Sans CJK KR"/>
              </a:rPr>
              <a:t>제안</a:t>
            </a:r>
            <a:endParaRPr sz="2300" b="1" i="0" dirty="0">
              <a:solidFill>
                <a:srgbClr val="202225"/>
              </a:solidFill>
              <a:latin typeface="Noto Sans CJK K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841248"/>
            <a:ext cx="914400" cy="36576"/>
          </a:xfrm>
          <a:prstGeom prst="rect">
            <a:avLst/>
          </a:prstGeom>
          <a:solidFill>
            <a:srgbClr val="C38F5A"/>
          </a:solidFill>
          <a:ln>
            <a:solidFill>
              <a:srgbClr val="C38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6F76"/>
                </a:solidFill>
                <a:latin typeface="Noto Sans CJK KR"/>
              </a:rPr>
              <a:t>연령대별 가격 전략을 다르게 설계하고, 이 프로젝트는 데이터 수집부터 인사이트 도출까지의 흐름을 보여준다.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74320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A6F76"/>
                </a:solidFill>
                <a:latin typeface="Noto Sans CJK KR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33375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F6B6A"/>
                </a:solidFill>
                <a:latin typeface="Noto Sans CJK KR"/>
              </a:rPr>
              <a:t>20–24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4688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202225"/>
                </a:solidFill>
                <a:latin typeface="Noto Sans CJK KR"/>
              </a:rPr>
              <a:t>가성비 중심 세그먼트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834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02225"/>
                </a:solidFill>
                <a:latin typeface="Noto Sans CJK KR"/>
              </a:rPr>
              <a:t>• 3~7만원대 중심 확대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2834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02225"/>
                </a:solidFill>
                <a:latin typeface="Noto Sans CJK KR"/>
              </a:rPr>
              <a:t>• 리뷰 많은 상품 우선 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6"/>
            <a:ext cx="2834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02225"/>
                </a:solidFill>
                <a:latin typeface="Noto Sans CJK KR"/>
              </a:rPr>
              <a:t>• 중저가 상품 비중 강화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544568"/>
            <a:ext cx="2468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02225"/>
                </a:solidFill>
                <a:latin typeface="Noto Sans CJK KR"/>
              </a:rPr>
              <a:t>핵심 레버: 카테고리보다 가격대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44752"/>
            <a:ext cx="33375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664208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38F5A"/>
                </a:solidFill>
                <a:latin typeface="Noto Sans CJK KR"/>
              </a:rPr>
              <a:t>25–29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920240"/>
            <a:ext cx="2697480" cy="4349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 err="1">
                <a:solidFill>
                  <a:srgbClr val="202225"/>
                </a:solidFill>
                <a:latin typeface="Noto Sans CJK KR"/>
              </a:rPr>
              <a:t>중가</a:t>
            </a:r>
            <a:r>
              <a:rPr sz="18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800" b="1" i="0" dirty="0" err="1">
                <a:solidFill>
                  <a:srgbClr val="202225"/>
                </a:solidFill>
                <a:latin typeface="Noto Sans CJK KR"/>
              </a:rPr>
              <a:t>이상</a:t>
            </a:r>
            <a:r>
              <a:rPr sz="18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800" b="1" i="0" dirty="0" err="1">
                <a:solidFill>
                  <a:srgbClr val="202225"/>
                </a:solidFill>
                <a:latin typeface="Noto Sans CJK KR"/>
              </a:rPr>
              <a:t>확장</a:t>
            </a:r>
            <a:r>
              <a:rPr sz="1800" b="1" i="0" dirty="0">
                <a:solidFill>
                  <a:srgbClr val="202225"/>
                </a:solidFill>
                <a:latin typeface="Noto Sans CJK KR"/>
              </a:rPr>
              <a:t> </a:t>
            </a:r>
            <a:r>
              <a:rPr sz="1800" b="1" i="0" dirty="0" err="1">
                <a:solidFill>
                  <a:srgbClr val="202225"/>
                </a:solidFill>
                <a:latin typeface="Noto Sans CJK KR"/>
              </a:rPr>
              <a:t>세그먼트</a:t>
            </a:r>
            <a:endParaRPr sz="1800" b="1" i="0" dirty="0">
              <a:solidFill>
                <a:srgbClr val="202225"/>
              </a:solidFill>
              <a:latin typeface="Noto Sans CJK K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2542032"/>
            <a:ext cx="2834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02225"/>
                </a:solidFill>
                <a:latin typeface="Noto Sans CJK KR"/>
              </a:rPr>
              <a:t>• 7~15만원대 포함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072384"/>
            <a:ext cx="2834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02225"/>
                </a:solidFill>
                <a:latin typeface="Noto Sans CJK KR"/>
              </a:rPr>
              <a:t>• 중고가 리뷰 상품 노출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602736"/>
            <a:ext cx="2834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02225"/>
                </a:solidFill>
                <a:latin typeface="Noto Sans CJK KR"/>
              </a:rPr>
              <a:t>• 프리미엄 백팩/아웃도어 비중 확대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389120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4544568"/>
            <a:ext cx="2468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02225"/>
                </a:solidFill>
                <a:latin typeface="Noto Sans CJK KR"/>
              </a:rPr>
              <a:t>핵심 레버: 카테고리보다 가격대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44752"/>
            <a:ext cx="3154680" cy="3977639"/>
          </a:xfrm>
          <a:prstGeom prst="roundRect">
            <a:avLst>
              <a:gd name="adj" fmla="val 8000"/>
            </a:avLst>
          </a:prstGeom>
          <a:solidFill>
            <a:srgbClr val="1E2627"/>
          </a:solidFill>
          <a:ln>
            <a:solidFill>
              <a:srgbClr val="1E2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1691640"/>
            <a:ext cx="23774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E4C7A8"/>
                </a:solidFill>
                <a:latin typeface="Noto Sans CJK KR"/>
              </a:rPr>
              <a:t>포트폴리오에서 보여주는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057400"/>
            <a:ext cx="2560320" cy="210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40" b="0" i="0">
                <a:solidFill>
                  <a:srgbClr val="FFFFFF"/>
                </a:solidFill>
                <a:latin typeface="Noto Sans CJK KR"/>
              </a:rPr>
              <a:t>• 웹 크롤링으로 raw data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542032"/>
            <a:ext cx="2560320" cy="210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40" b="0" i="0">
                <a:solidFill>
                  <a:srgbClr val="FFFFFF"/>
                </a:solidFill>
                <a:latin typeface="Noto Sans CJK KR"/>
              </a:rPr>
              <a:t>• 가격/리뷰/카테고리 정제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026664"/>
            <a:ext cx="2560320" cy="210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40" b="0" i="0">
                <a:solidFill>
                  <a:srgbClr val="FFFFFF"/>
                </a:solidFill>
                <a:latin typeface="Noto Sans CJK KR"/>
              </a:rPr>
              <a:t>• 연령대 세그먼트 비교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511296"/>
            <a:ext cx="2560320" cy="210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40" b="0" i="0">
                <a:solidFill>
                  <a:srgbClr val="FFFFFF"/>
                </a:solidFill>
                <a:latin typeface="Noto Sans CJK KR"/>
              </a:rPr>
              <a:t>• 차트 기반 스토리텔링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995928"/>
            <a:ext cx="2560320" cy="210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40" b="0" i="0">
                <a:solidFill>
                  <a:srgbClr val="FFFFFF"/>
                </a:solidFill>
                <a:latin typeface="Noto Sans CJK KR"/>
              </a:rPr>
              <a:t>• 실행 가능한 MD 인사이트 정리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50992"/>
            <a:ext cx="10744200" cy="502920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D9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769864"/>
            <a:ext cx="102412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1" i="0">
                <a:solidFill>
                  <a:srgbClr val="202225"/>
                </a:solidFill>
                <a:latin typeface="Noto Sans CJK KR"/>
              </a:rPr>
              <a:t>한 줄 요약: 무신사 남성 가방 랭킹에서는 연령대가 올라갈수록 상품 카테고리보다 허용 가격대가 먼저 확장된다.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629</Words>
  <Application>Microsoft Office PowerPoint</Application>
  <PresentationFormat>와이드스크린</PresentationFormat>
  <Paragraphs>138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영웅 정</cp:lastModifiedBy>
  <cp:revision>8</cp:revision>
  <dcterms:created xsi:type="dcterms:W3CDTF">2013-01-27T09:14:16Z</dcterms:created>
  <dcterms:modified xsi:type="dcterms:W3CDTF">2026-04-23T05:10:57Z</dcterms:modified>
  <cp:category/>
</cp:coreProperties>
</file>